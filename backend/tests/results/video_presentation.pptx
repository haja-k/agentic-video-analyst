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000">
                <a:latin typeface="Calibri"/>
              </a:defRPr>
            </a:pPr>
            <a:r>
              <a:t>Video Analysis Presentation</a:t>
            </a:r>
          </a:p>
        </p:txBody>
      </p:sp>
      <p:sp>
        <p:nvSpPr>
          <p:cNvPr id="3" name="Subtitle 2"/>
          <p:cNvSpPr>
            <a:spLocks noGrp="1"/>
          </p:cNvSpPr>
          <p:nvPr>
            <p:ph type="subTitle" idx="1"/>
          </p:nvPr>
        </p:nvSpPr>
        <p:spPr/>
        <p:txBody>
          <a:bodyPr/>
          <a:lstStyle/>
          <a:p>
            <a:pPr>
              <a:defRPr sz="1700">
                <a:latin typeface="Calibri"/>
              </a:defRPr>
            </a:pPr>
            <a:r>
              <a:t>Generated on January 09,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000">
                <a:latin typeface="Calibri"/>
              </a:defRPr>
            </a:pPr>
            <a:r>
              <a:t>Executive Summary</a:t>
            </a:r>
          </a:p>
        </p:txBody>
      </p:sp>
      <p:sp>
        <p:nvSpPr>
          <p:cNvPr id="3" name="Content Placeholder 2"/>
          <p:cNvSpPr>
            <a:spLocks noGrp="1"/>
          </p:cNvSpPr>
          <p:nvPr>
            <p:ph idx="1"/>
          </p:nvPr>
        </p:nvSpPr>
        <p:spPr/>
        <p:txBody>
          <a:bodyPr/>
          <a:lstStyle/>
          <a:p>
            <a:pPr>
              <a:defRPr sz="1500">
                <a:latin typeface="Calibri"/>
              </a:defRPr>
            </a:pPr>
            <a:r>
              <a:t>Key findings from video analysis including transcription highlights and visual elements detected.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latin typeface="Calibri"/>
              </a:defRPr>
            </a:pPr>
            <a:r>
              <a:t>Transcription</a:t>
            </a:r>
          </a:p>
        </p:txBody>
      </p:sp>
      <p:sp>
        <p:nvSpPr>
          <p:cNvPr id="3" name="Content Placeholder 2"/>
          <p:cNvSpPr>
            <a:spLocks noGrp="1"/>
          </p:cNvSpPr>
          <p:nvPr>
            <p:ph idx="1"/>
          </p:nvPr>
        </p:nvSpPr>
        <p:spPr/>
        <p:txBody>
          <a:bodyPr/>
          <a:lstStyle/>
          <a:p>
            <a:pPr>
              <a:defRPr sz="1500">
                <a:latin typeface="Calibri"/>
              </a:defRPr>
            </a:pPr>
            <a:r>
              <a:t>Why are pyramids that shape? Is it to stop homeless people sleeping on them? The Egyptians believed the most significant thing you could do in your life was die. They have the right to bear arms. Correct. But bears don't have arms. They do, actually. Oh, do they? I thought they were legs. Well, I'm not a biologist, but I suppose that when they stand up, they're probably arms. What was the Soviet onion? Well, I think you're leaving under a misapprehension and you probably mean the Soviet Union. 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000">
                <a:latin typeface="Calibri"/>
              </a:defRPr>
            </a:pPr>
            <a:r>
              <a:t>Key Segments</a:t>
            </a:r>
          </a:p>
        </p:txBody>
      </p:sp>
      <p:sp>
        <p:nvSpPr>
          <p:cNvPr id="3" name="Content Placeholder 2"/>
          <p:cNvSpPr>
            <a:spLocks noGrp="1"/>
          </p:cNvSpPr>
          <p:nvPr>
            <p:ph idx="1"/>
          </p:nvPr>
        </p:nvSpPr>
        <p:spPr/>
        <p:txBody>
          <a:bodyPr/>
          <a:lstStyle/>
          <a:p>
            <a:pPr>
              <a:defRPr sz="1500">
                <a:latin typeface="Calibri"/>
              </a:defRPr>
            </a:pPr>
            <a:r>
              <a:t>0.0s: Why are pyramids that shape?</a:t>
            </a:r>
          </a:p>
          <a:p>
            <a:pPr>
              <a:defRPr sz="1500">
                <a:latin typeface="Calibri"/>
              </a:defRPr>
            </a:pPr>
            <a:r>
              <a:t>2.3s: Is it to stop homeless people sleeping on them?</a:t>
            </a:r>
          </a:p>
          <a:p>
            <a:pPr>
              <a:defRPr sz="1500">
                <a:latin typeface="Calibri"/>
              </a:defRPr>
            </a:pPr>
            <a:r>
              <a:t>5.1s: The Egyptians believed the most significant thing</a:t>
            </a:r>
          </a:p>
          <a:p>
            <a:pPr>
              <a:defRPr sz="1500">
                <a:latin typeface="Calibri"/>
              </a:defRPr>
            </a:pPr>
            <a:r>
              <a:t>7.4s: you could do in your life was die.</a:t>
            </a:r>
          </a:p>
          <a:p>
            <a:pPr>
              <a:defRPr sz="1500">
                <a:latin typeface="Calibri"/>
              </a:defRPr>
            </a:pPr>
            <a:r>
              <a:t>9.1s: They have the right to bear arms.</a:t>
            </a:r>
          </a:p>
          <a:p>
            <a:pPr>
              <a:defRPr sz="1500">
                <a:latin typeface="Calibri"/>
              </a:defRPr>
            </a:pPr>
            <a:r>
              <a:t>10.8s: Correct.</a:t>
            </a:r>
          </a:p>
          <a:p>
            <a:pPr>
              <a:defRPr sz="1500">
                <a:latin typeface="Calibri"/>
              </a:defRPr>
            </a:pPr>
            <a:r>
              <a:t>11.7s: But bears don't have arms.</a:t>
            </a:r>
          </a:p>
          <a:p>
            <a:pPr>
              <a:defRPr sz="1500">
                <a:latin typeface="Calibri"/>
              </a:defRPr>
            </a:pPr>
            <a:r>
              <a:t>13.1s: They do, actually.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latin typeface="Calibri"/>
              </a:defRPr>
            </a:pPr>
            <a:r>
              <a:t>Visual Analysis</a:t>
            </a:r>
          </a:p>
        </p:txBody>
      </p:sp>
      <p:sp>
        <p:nvSpPr>
          <p:cNvPr id="3" name="Content Placeholder 2"/>
          <p:cNvSpPr>
            <a:spLocks noGrp="1"/>
          </p:cNvSpPr>
          <p:nvPr>
            <p:ph idx="1"/>
          </p:nvPr>
        </p:nvSpPr>
        <p:spPr/>
        <p:txBody>
          <a:bodyPr/>
          <a:lstStyle/>
          <a:p>
            <a:pPr>
              <a:defRPr sz="1500">
                <a:latin typeface="Calibri"/>
              </a:defRPr>
            </a:pPr>
            <a:r>
              <a:t>Analyzed 8 frames from the video</a:t>
            </a:r>
          </a:p>
          <a:p>
            <a:pPr lvl="1">
              <a:defRPr sz="1500">
                <a:latin typeface="Calibri"/>
              </a:defRPr>
            </a:pPr>
            <a:r>
              <a:t>Frame at 0.0s: a woman sitting in a chair with a man standing next to her</a:t>
            </a:r>
          </a:p>
          <a:p>
            <a:pPr lvl="2">
              <a:defRPr sz="1500">
                <a:latin typeface="Calibri"/>
              </a:defRPr>
            </a:pPr>
            <a:r>
              <a:t>Objects: person, chair</a:t>
            </a:r>
          </a:p>
          <a:p>
            <a:pPr lvl="1">
              <a:defRPr sz="1500">
                <a:latin typeface="Calibri"/>
              </a:defRPr>
            </a:pPr>
            <a:r>
              <a:t>Frame at 7.2s: a bird flying over a sandy dune</a:t>
            </a:r>
          </a:p>
          <a:p>
            <a:pPr lvl="1">
              <a:defRPr sz="1500">
                <a:latin typeface="Calibri"/>
              </a:defRPr>
            </a:pPr>
            <a:r>
              <a:t>Frame at 14.5s: a woman in a suit and tie is talking</a:t>
            </a:r>
          </a:p>
          <a:p>
            <a:pPr lvl="2">
              <a:defRPr sz="1500">
                <a:latin typeface="Calibri"/>
              </a:defRPr>
            </a:pPr>
            <a:r>
              <a:t>Objects: person, tie, tie</a:t>
            </a:r>
          </a:p>
          <a:p>
            <a:pPr lvl="1">
              <a:defRPr sz="1500">
                <a:latin typeface="Calibri"/>
              </a:defRPr>
            </a:pPr>
            <a:r>
              <a:t>Frame at 21.8s: a man and woman sitting in chairs talking</a:t>
            </a:r>
          </a:p>
          <a:p>
            <a:pPr lvl="2">
              <a:defRPr sz="1500">
                <a:latin typeface="Calibri"/>
              </a:defRPr>
            </a:pPr>
            <a:r>
              <a:t>Objects: person, chair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743200"/>
            <a:ext cx="5486400" cy="914400"/>
          </a:xfrm>
          <a:prstGeom prst="rect">
            <a:avLst/>
          </a:prstGeom>
          <a:noFill/>
        </p:spPr>
        <p:txBody>
          <a:bodyPr wrap="none">
            <a:spAutoFit/>
          </a:bodyPr>
          <a:lstStyle/>
          <a:p>
            <a:pPr algn="ctr">
              <a:defRPr sz="3000">
                <a:latin typeface="Calibri"/>
              </a:defRPr>
            </a:pPr>
            <a: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